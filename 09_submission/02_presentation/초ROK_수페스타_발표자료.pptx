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6492240"/>
            <a:ext cx="11201400" cy="0"/>
          </a:xfrm>
          <a:prstGeom prst="line">
            <a:avLst/>
          </a:prstGeom>
          <a:noFill/>
          <a:ln w="8890">
            <a:solidFill>
              <a:srgbClr val="C9D9D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6537960"/>
            <a:ext cx="2468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C7C7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 ROK · 수페스타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8869680" y="6537960"/>
            <a:ext cx="2697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C7C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 ESG × AI CHALLENGE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6C7C7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6C7C7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43800" y="-1143000"/>
            <a:ext cx="5394960" cy="5394960"/>
          </a:xfrm>
          <a:prstGeom prst="ellipse">
            <a:avLst/>
          </a:prstGeom>
          <a:solidFill>
            <a:srgbClr val="185F50"/>
          </a:solidFill>
          <a:ln w="12700">
            <a:solidFill>
              <a:srgbClr val="185F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5836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3E1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2026 ESG × AI CHALLENGE · TRACK C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85800" y="1261872"/>
            <a:ext cx="6217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수페스타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13232" y="2249424"/>
            <a:ext cx="6583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C8F4D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ESG 질문을 검증 가능한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C8F4D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행동으로 바꾸는 AI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13232" y="3584448"/>
            <a:ext cx="6537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E4F3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KAC 지식을 질문별로 선택하고 실행 Skill을 실제로 수행한 뒤,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F3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로컬 AI가 검증 결과만 자연어로 설명합니다.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4754880"/>
            <a:ext cx="4343400" cy="320040"/>
          </a:xfrm>
          <a:prstGeom prst="roundRect">
            <a:avLst>
              <a:gd name="adj" fmla="val 22857"/>
            </a:avLst>
          </a:prstGeom>
          <a:solidFill>
            <a:srgbClr val="1B6756"/>
          </a:solidFill>
          <a:ln w="12700">
            <a:solidFill>
              <a:srgbClr val="1B675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4764024"/>
            <a:ext cx="4343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FFF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 → Context → KAC → Skill → 판정 → 설명</a:t>
            </a:r>
            <a:endParaRPr lang="en-US" sz="900" dirty="0"/>
          </a:p>
        </p:txBody>
      </p:sp>
      <p:pic>
        <p:nvPicPr>
          <p:cNvPr id="9" name="Image 0" descr="embedded 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261872"/>
            <a:ext cx="2971800" cy="2971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13232" y="56692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AD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 초 ROK · 박상훈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6C7C7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PROBLEM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ESG 지식은 많지만, “그래서 무엇을 해야 하나”가 끊겨 있습니다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57784" y="12344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정의 검색만으로는 사용자의 상황에 맞는 확인 순서와 책임 있는 다음 행동을 정하기 어렵습니다.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58368" y="1847088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847088"/>
            <a:ext cx="64008" cy="2267712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99339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ESG 입문자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9536" y="2359152"/>
            <a:ext cx="3108960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“ESG가 정확히 무엇인가요?”</a:t>
            </a:r>
            <a:endParaRPr lang="en-US" sz="1020" dirty="0"/>
          </a:p>
          <a:p>
            <a:pPr indent="0" marL="0">
              <a:buNone/>
            </a:pP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관련 없는 탄소시장 이야기 없이 질문한 개념만 이해하고 싶습니다.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4370832" y="1847088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1847088"/>
            <a:ext cx="64008" cy="2267712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99339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기업 담당자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0" y="2359152"/>
            <a:ext cx="3108960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“우리 보일러는 Scope 몇인가요?”</a:t>
            </a:r>
            <a:endParaRPr lang="en-US" sz="1020" dirty="0"/>
          </a:p>
          <a:p>
            <a:pPr indent="0" marL="0">
              <a:buNone/>
            </a:pP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활동·조직경계·소유통제·증빙을 함께 확인해야 합니다.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8083296" y="1847088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83296" y="1847088"/>
            <a:ext cx="64008" cy="2267712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84464" y="199339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산주·구매 검토자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84464" y="2359152"/>
            <a:ext cx="3108960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“절차는 어디까지 왔고 무엇을 확인해야 하나요?”</a:t>
            </a:r>
            <a:endParaRPr lang="en-US" sz="1020" dirty="0"/>
          </a:p>
          <a:p>
            <a:pPr indent="0" marL="0">
              <a:buNone/>
            </a:pP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등록·권리·검증·거래 조건이 서로 연결돼 있습니다.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768096" y="4663440"/>
            <a:ext cx="10680192" cy="841248"/>
          </a:xfrm>
          <a:prstGeom prst="roundRect">
            <a:avLst>
              <a:gd name="adj" fmla="val 8696"/>
            </a:avLst>
          </a:prstGeom>
          <a:solidFill>
            <a:srgbClr val="DFF2EA"/>
          </a:solidFill>
          <a:ln w="12700">
            <a:solidFill>
              <a:srgbClr val="DFF2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919472"/>
            <a:ext cx="10287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4B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문제는 정보 부족이 아니라, 지식이 판단과 행동으로 이어지지 않는 구조입니다.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6C7C7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PRODUCT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정확히 만드는 것은 브라우저형 ESG 대화 서비스입니다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57784" y="12344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사용자는 자연스러운 답변을 보고, 필요할 때만 근거·Skill·실행기록을 펼쳐봅니다.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85216" y="1737360"/>
            <a:ext cx="7168896" cy="443484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pic>
        <p:nvPicPr>
          <p:cNvPr id="6" name="Image 0" descr="embedded 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1801368"/>
            <a:ext cx="7040880" cy="43068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046720" y="1755648"/>
            <a:ext cx="345643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46720" y="1755648"/>
            <a:ext cx="64008" cy="1078992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47888" y="190195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앞단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247888" y="2267712"/>
            <a:ext cx="3108960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결론 · 쉬운 설명 · 확인 이유 · 지금 할 일 · 다음 질문</a:t>
            </a:r>
            <a:endParaRPr lang="en-US" sz="1020" dirty="0"/>
          </a:p>
        </p:txBody>
      </p:sp>
      <p:sp>
        <p:nvSpPr>
          <p:cNvPr id="11" name="Shape 8"/>
          <p:cNvSpPr/>
          <p:nvPr/>
        </p:nvSpPr>
        <p:spPr>
          <a:xfrm>
            <a:off x="8046720" y="3017520"/>
            <a:ext cx="345643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46720" y="3017520"/>
            <a:ext cx="64008" cy="1078992"/>
          </a:xfrm>
          <a:prstGeom prst="rect">
            <a:avLst/>
          </a:prstGeom>
          <a:solidFill>
            <a:srgbClr val="2D628D"/>
          </a:solidFill>
          <a:ln w="12700">
            <a:solidFill>
              <a:srgbClr val="2D628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47888" y="316382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뒷단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247888" y="3529584"/>
            <a:ext cx="3108960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Context · KAC · 실행 Skill · 근거 · 산출물 · Run Record</a:t>
            </a:r>
            <a:endParaRPr lang="en-US" sz="1020" dirty="0"/>
          </a:p>
        </p:txBody>
      </p:sp>
      <p:sp>
        <p:nvSpPr>
          <p:cNvPr id="15" name="Shape 12"/>
          <p:cNvSpPr/>
          <p:nvPr/>
        </p:nvSpPr>
        <p:spPr>
          <a:xfrm>
            <a:off x="8046720" y="4279392"/>
            <a:ext cx="345643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46720" y="4279392"/>
            <a:ext cx="64008" cy="1078992"/>
          </a:xfrm>
          <a:prstGeom prst="rect">
            <a:avLst/>
          </a:prstGeom>
          <a:solidFill>
            <a:srgbClr val="A86916"/>
          </a:solidFill>
          <a:ln w="12700">
            <a:solidFill>
              <a:srgbClr val="A8691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47888" y="44256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연결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247888" y="4791456"/>
            <a:ext cx="3108960" cy="4206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구매처를 직접 물은 경우에만 산림탄소마켓을 선택지로 표시</a:t>
            </a:r>
            <a:endParaRPr lang="en-US" sz="1020" dirty="0"/>
          </a:p>
        </p:txBody>
      </p:sp>
      <p:sp>
        <p:nvSpPr>
          <p:cNvPr id="19" name="Shape 16"/>
          <p:cNvSpPr/>
          <p:nvPr/>
        </p:nvSpPr>
        <p:spPr>
          <a:xfrm>
            <a:off x="8174736" y="5696712"/>
            <a:ext cx="3182112" cy="320040"/>
          </a:xfrm>
          <a:prstGeom prst="roundRect">
            <a:avLst>
              <a:gd name="adj" fmla="val 22857"/>
            </a:avLst>
          </a:prstGeom>
          <a:solidFill>
            <a:srgbClr val="FDE6E2"/>
          </a:solidFill>
          <a:ln w="12700">
            <a:solidFill>
              <a:srgbClr val="FDE6E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74736" y="5705856"/>
            <a:ext cx="31821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4F49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 ESG 답변은 마켓으로 흐르지 않음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6C7C7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WHY KAC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지식을 설명에서 끝내지 않고, 실행 규칙으로 연결합니다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57784" y="12344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KAC는 사용자의 상황과 목표에 맞춰 지식이 어떤 확인·판단·행동으로 이어지는지 고정합니다.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85216" y="1883664"/>
            <a:ext cx="158191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BED7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2221992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194560" y="22402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487168" y="1883664"/>
            <a:ext cx="158191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BED7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78608" y="2221992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096512" y="22402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389120" y="1883664"/>
            <a:ext cx="158191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BED7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221992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Task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998464" y="22402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91072" y="1883664"/>
            <a:ext cx="158191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BED7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2221992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900416" y="22402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193024" y="1883664"/>
            <a:ext cx="158191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BED7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4464" y="2221992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802368" y="22402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094976" y="1883664"/>
            <a:ext cx="1581912" cy="1078992"/>
          </a:xfrm>
          <a:prstGeom prst="roundRect">
            <a:avLst>
              <a:gd name="adj" fmla="val 6780"/>
            </a:avLst>
          </a:prstGeom>
          <a:solidFill>
            <a:srgbClr val="0D4B3D"/>
          </a:solidFill>
          <a:ln w="12700">
            <a:solidFill>
              <a:srgbClr val="0D4B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86416" y="2221992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Skill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713232" y="3675888"/>
            <a:ext cx="3346704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64008" cy="1353312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3822192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구조화하나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4400" y="4187952"/>
            <a:ext cx="2999232" cy="6949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기준을 질문마다 흔들리지 않게 재사용하고, 원문 근거와 제약을 함께 보존하기 위해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4425696" y="3675888"/>
            <a:ext cx="3346704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25696" y="3675888"/>
            <a:ext cx="64008" cy="1353312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26864" y="3822192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Skill로 묶나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626864" y="4187952"/>
            <a:ext cx="2999232" cy="6949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 설명을 입력 검사·판정·산출물 생성이 가능한 실행 단위로 바꾸기 위해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8138160" y="3675888"/>
            <a:ext cx="3346704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38160" y="3675888"/>
            <a:ext cx="64008" cy="1353312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39328" y="3822192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배포하나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339328" y="4187952"/>
            <a:ext cx="2999232" cy="6949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검증된 행동 체인을 서비스에서 반복 실행하고 매 실행의 기록과 해시를 남기기 위해</a:t>
            </a:r>
            <a:endParaRPr lang="en-US" sz="1020" dirty="0"/>
          </a:p>
        </p:txBody>
      </p:sp>
      <p:sp>
        <p:nvSpPr>
          <p:cNvPr id="34" name="Text 32"/>
          <p:cNvSpPr/>
          <p:nvPr/>
        </p:nvSpPr>
        <p:spPr>
          <a:xfrm>
            <a:off x="1005840" y="5577840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D4B3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수페스타는 KAC 지식을 근거로 사용하고, KAC에서 구조화·배포한 Skill을 실행 규칙으로 사용합니다.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6C7C7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ARCHITECTURE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판정은 Skill이 만들고, 로컬 AI는 검증 결과만 설명합니다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57784" y="12344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UI와 서버는 별도 Runtime 코드이며, Stage Skill만으로 챗봇 전체가 자동 생성됐다고 주장하지 않습니다.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773936"/>
            <a:ext cx="32552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773936"/>
            <a:ext cx="64008" cy="1389888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92024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· Context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32688" y="2286000"/>
            <a:ext cx="2907792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 진술만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타입 필드로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4059936" y="23042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553712" y="1773936"/>
            <a:ext cx="32552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53712" y="1773936"/>
            <a:ext cx="64008" cy="1389888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92024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· Composite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2286000"/>
            <a:ext cx="2907792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라우터 1회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진입점</a:t>
            </a:r>
            <a:endParaRPr lang="en-US" sz="1020" dirty="0"/>
          </a:p>
        </p:txBody>
      </p:sp>
      <p:sp>
        <p:nvSpPr>
          <p:cNvPr id="14" name="Text 12"/>
          <p:cNvSpPr/>
          <p:nvPr/>
        </p:nvSpPr>
        <p:spPr>
          <a:xfrm>
            <a:off x="7882128" y="23042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375904" y="1773936"/>
            <a:ext cx="32552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75904" y="1773936"/>
            <a:ext cx="64008" cy="1389888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77072" y="1920240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 · KAC + Skill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577072" y="2286000"/>
            <a:ext cx="2907792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체인 선택·해시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도메인 실행 1회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9838944" y="323697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375904" y="3675888"/>
            <a:ext cx="3255264" cy="1389888"/>
          </a:xfrm>
          <a:prstGeom prst="roundRect">
            <a:avLst>
              <a:gd name="adj" fmla="val 5263"/>
            </a:avLst>
          </a:prstGeom>
          <a:solidFill>
            <a:srgbClr val="FFF0D7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5904" y="3675888"/>
            <a:ext cx="64008" cy="1389888"/>
          </a:xfrm>
          <a:prstGeom prst="rect">
            <a:avLst/>
          </a:prstGeom>
          <a:solidFill>
            <a:srgbClr val="A86916"/>
          </a:solidFill>
          <a:ln w="12700">
            <a:solidFill>
              <a:srgbClr val="A8691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7072" y="3822192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· 판정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77072" y="4187952"/>
            <a:ext cx="2907792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PROCEED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REVIEW · STOP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7982712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←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553712" y="3675888"/>
            <a:ext cx="32552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3712" y="3675888"/>
            <a:ext cx="64008" cy="1389888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3822192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 · Local AI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754880" y="4187952"/>
            <a:ext cx="2907792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결과만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자연어 표현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4160520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←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31520" y="3675888"/>
            <a:ext cx="32552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3675888"/>
            <a:ext cx="64008" cy="1389888"/>
          </a:xfrm>
          <a:prstGeom prst="rect">
            <a:avLst/>
          </a:prstGeom>
          <a:solidFill>
            <a:srgbClr val="C94F49"/>
          </a:solidFill>
          <a:ln w="12700">
            <a:solidFill>
              <a:srgbClr val="C94F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2688" y="3822192"/>
            <a:ext cx="2907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 · Risk Gate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32688" y="4187952"/>
            <a:ext cx="2907792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권한·주장·링크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재검사</a:t>
            </a:r>
            <a:endParaRPr lang="en-US" sz="1020" dirty="0"/>
          </a:p>
        </p:txBody>
      </p:sp>
      <p:sp>
        <p:nvSpPr>
          <p:cNvPr id="34" name="Shape 32"/>
          <p:cNvSpPr/>
          <p:nvPr/>
        </p:nvSpPr>
        <p:spPr>
          <a:xfrm>
            <a:off x="786384" y="5303520"/>
            <a:ext cx="10625328" cy="585216"/>
          </a:xfrm>
          <a:prstGeom prst="roundRect">
            <a:avLst>
              <a:gd name="adj" fmla="val 12500"/>
            </a:avLst>
          </a:prstGeom>
          <a:solidFill>
            <a:srgbClr val="E6F0FA"/>
          </a:solidFill>
          <a:ln w="12700">
            <a:solidFill>
              <a:srgbClr val="E6F0F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87552" y="5468112"/>
            <a:ext cx="10222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628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실행은 Context · KAC · Skill · 산출물 · SHA-256이 포함된 Run Record로 남습니다.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6C7C7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DEMO A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“ESG가 무엇인가요?”에는 ESG만 답합니다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57784" y="12344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질문과 직접 관련된 KAC만 선택하며 산림탄소마켓 링크는 표시하지 않습니다.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85216" y="1719072"/>
            <a:ext cx="7516368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pic>
        <p:nvPicPr>
          <p:cNvPr id="6" name="Image 0" descr="embedded 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1783080"/>
            <a:ext cx="7388352" cy="43525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94192" y="1810512"/>
            <a:ext cx="2999232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394192" y="1810512"/>
            <a:ext cx="64008" cy="1133856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19568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답변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595360" y="2322576"/>
            <a:ext cx="265176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E·S·G의 의미와 탄소가 환경 영역의 한 주제라는 점만 설명</a:t>
            </a:r>
            <a:endParaRPr lang="en-US" sz="1020" dirty="0"/>
          </a:p>
        </p:txBody>
      </p:sp>
      <p:sp>
        <p:nvSpPr>
          <p:cNvPr id="11" name="Shape 8"/>
          <p:cNvSpPr/>
          <p:nvPr/>
        </p:nvSpPr>
        <p:spPr>
          <a:xfrm>
            <a:off x="8394192" y="3163824"/>
            <a:ext cx="2999232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394192" y="3163824"/>
            <a:ext cx="64008" cy="1133856"/>
          </a:xfrm>
          <a:prstGeom prst="rect">
            <a:avLst/>
          </a:prstGeom>
          <a:solidFill>
            <a:srgbClr val="2D628D"/>
          </a:solidFill>
          <a:ln w="12700">
            <a:solidFill>
              <a:srgbClr val="2D628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95360" y="33101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 선택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595360" y="3675888"/>
            <a:ext cx="265176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85개 Identity·Concept Skill 중 질문과 관련된 체인만 사용</a:t>
            </a:r>
            <a:endParaRPr lang="en-US" sz="1020" dirty="0"/>
          </a:p>
        </p:txBody>
      </p:sp>
      <p:sp>
        <p:nvSpPr>
          <p:cNvPr id="15" name="Shape 12"/>
          <p:cNvSpPr/>
          <p:nvPr/>
        </p:nvSpPr>
        <p:spPr>
          <a:xfrm>
            <a:off x="8394192" y="4517136"/>
            <a:ext cx="2999232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94192" y="4517136"/>
            <a:ext cx="64008" cy="1133856"/>
          </a:xfrm>
          <a:prstGeom prst="rect">
            <a:avLst/>
          </a:prstGeom>
          <a:solidFill>
            <a:srgbClr val="C94F49"/>
          </a:solidFill>
          <a:ln w="12700">
            <a:solidFill>
              <a:srgbClr val="C94F4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95360" y="46634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비홍보 원칙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595360" y="5029200"/>
            <a:ext cx="265176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구매 의도가 없으므로 외부 마켓 handoff 없음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6C7C7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· DEMO B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자연스러운 질문을 구조화해 Scope 1을 실행 판정합니다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57784" y="12344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“저희 회사가 소유·운영하는 보일러에서 도시가스 1,250 Nm³를 사용했고 고지서가 있습니다. Scope 몇인가요?”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85216" y="1719072"/>
            <a:ext cx="7479792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pic>
        <p:nvPicPr>
          <p:cNvPr id="6" name="Image 0" descr="embedded 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1783080"/>
            <a:ext cx="7351776" cy="43525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21040" y="1773936"/>
            <a:ext cx="312724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321040" y="1773936"/>
            <a:ext cx="64008" cy="960120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22208" y="192024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Context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522208" y="2286000"/>
            <a:ext cx="2779776" cy="3017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소유·운영 · 도시가스 · 1,250 Nm³ · 2026년 8월 · 고지서</a:t>
            </a:r>
            <a:endParaRPr lang="en-US" sz="1020" dirty="0"/>
          </a:p>
        </p:txBody>
      </p:sp>
      <p:sp>
        <p:nvSpPr>
          <p:cNvPr id="11" name="Shape 8"/>
          <p:cNvSpPr/>
          <p:nvPr/>
        </p:nvSpPr>
        <p:spPr>
          <a:xfrm>
            <a:off x="8321040" y="2926080"/>
            <a:ext cx="312724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321040" y="2926080"/>
            <a:ext cx="64008" cy="960120"/>
          </a:xfrm>
          <a:prstGeom prst="rect">
            <a:avLst/>
          </a:prstGeom>
          <a:solidFill>
            <a:srgbClr val="2D628D"/>
          </a:solidFill>
          <a:ln w="12700">
            <a:solidFill>
              <a:srgbClr val="2D628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22208" y="30723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Run Skill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522208" y="3438144"/>
            <a:ext cx="2779776" cy="3017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scope-activity-classification-run</a:t>
            </a:r>
            <a:endParaRPr lang="en-US" sz="1020" dirty="0"/>
          </a:p>
        </p:txBody>
      </p:sp>
      <p:sp>
        <p:nvSpPr>
          <p:cNvPr id="15" name="Shape 12"/>
          <p:cNvSpPr/>
          <p:nvPr/>
        </p:nvSpPr>
        <p:spPr>
          <a:xfrm>
            <a:off x="8321040" y="4078224"/>
            <a:ext cx="3127248" cy="960120"/>
          </a:xfrm>
          <a:prstGeom prst="roundRect">
            <a:avLst>
              <a:gd name="adj" fmla="val 7619"/>
            </a:avLst>
          </a:prstGeom>
          <a:solidFill>
            <a:srgbClr val="EEF8F4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21040" y="4078224"/>
            <a:ext cx="64008" cy="960120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22208" y="42245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결과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522208" y="4590288"/>
            <a:ext cx="2779776" cy="3017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SCOPE_CLASSIFICATION · PROCEED · SCOPE_1</a:t>
            </a:r>
            <a:endParaRPr lang="en-US" sz="1020" dirty="0"/>
          </a:p>
        </p:txBody>
      </p:sp>
      <p:sp>
        <p:nvSpPr>
          <p:cNvPr id="19" name="Shape 16"/>
          <p:cNvSpPr/>
          <p:nvPr/>
        </p:nvSpPr>
        <p:spPr>
          <a:xfrm>
            <a:off x="8321040" y="5230368"/>
            <a:ext cx="3127248" cy="822960"/>
          </a:xfrm>
          <a:prstGeom prst="roundRect">
            <a:avLst>
              <a:gd name="adj" fmla="val 8889"/>
            </a:avLst>
          </a:prstGeom>
          <a:solidFill>
            <a:srgbClr val="FFF0D7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321040" y="5230368"/>
            <a:ext cx="64008" cy="822960"/>
          </a:xfrm>
          <a:prstGeom prst="rect">
            <a:avLst/>
          </a:prstGeom>
          <a:solidFill>
            <a:srgbClr val="A86916"/>
          </a:solidFill>
          <a:ln w="12700">
            <a:solidFill>
              <a:srgbClr val="A8691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522208" y="5376672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확인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522208" y="5742432"/>
            <a:ext cx="2779776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보고 전 조직경계·증빙 원문 대조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6C7C7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EVIDENCE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뒤에서 실제 실행된 KAC와 Skill을 확인할 수 있습니다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57784" y="12344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정적 예시가 아니라 브라우저 질문 실행에서 생성된 구조화 입력·체인·해시·판정 기록입니다.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85216" y="1719072"/>
            <a:ext cx="7790688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pic>
        <p:nvPicPr>
          <p:cNvPr id="6" name="Image 0" descr="embedded 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1783080"/>
            <a:ext cx="7662672" cy="43525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59368" y="1773936"/>
            <a:ext cx="2779776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59368" y="1773936"/>
            <a:ext cx="64008" cy="950976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0536" y="192024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 입력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860536" y="2286000"/>
            <a:ext cx="2432304" cy="2926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추정하지 않고 출처·규칙·신뢰도와 함께 타입 필드로 승격</a:t>
            </a:r>
            <a:endParaRPr lang="en-US" sz="1020" dirty="0"/>
          </a:p>
        </p:txBody>
      </p:sp>
      <p:sp>
        <p:nvSpPr>
          <p:cNvPr id="11" name="Shape 8"/>
          <p:cNvSpPr/>
          <p:nvPr/>
        </p:nvSpPr>
        <p:spPr>
          <a:xfrm>
            <a:off x="8659368" y="2907792"/>
            <a:ext cx="2779776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659368" y="2907792"/>
            <a:ext cx="64008" cy="950976"/>
          </a:xfrm>
          <a:prstGeom prst="rect">
            <a:avLst/>
          </a:prstGeom>
          <a:solidFill>
            <a:srgbClr val="2D628D"/>
          </a:solidFill>
          <a:ln w="12700">
            <a:solidFill>
              <a:srgbClr val="2D628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60536" y="3054096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KAC 체인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860536" y="3419856"/>
            <a:ext cx="2432304" cy="2926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Identity → Goal → Task → Knowledge → Method → Skill</a:t>
            </a:r>
            <a:endParaRPr lang="en-US" sz="1020" dirty="0"/>
          </a:p>
        </p:txBody>
      </p:sp>
      <p:sp>
        <p:nvSpPr>
          <p:cNvPr id="15" name="Shape 12"/>
          <p:cNvSpPr/>
          <p:nvPr/>
        </p:nvSpPr>
        <p:spPr>
          <a:xfrm>
            <a:off x="8659368" y="4041648"/>
            <a:ext cx="2779776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659368" y="4041648"/>
            <a:ext cx="64008" cy="950976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860536" y="41879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불변성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860536" y="4553712"/>
            <a:ext cx="2432304" cy="2926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Stage vault 변경 없음 · 선택 파일 해시 확인</a:t>
            </a:r>
            <a:endParaRPr lang="en-US" sz="1020" dirty="0"/>
          </a:p>
        </p:txBody>
      </p:sp>
      <p:sp>
        <p:nvSpPr>
          <p:cNvPr id="19" name="Shape 16"/>
          <p:cNvSpPr/>
          <p:nvPr/>
        </p:nvSpPr>
        <p:spPr>
          <a:xfrm>
            <a:off x="8659368" y="5175504"/>
            <a:ext cx="2779776" cy="859536"/>
          </a:xfrm>
          <a:prstGeom prst="roundRect">
            <a:avLst>
              <a:gd name="adj" fmla="val 8511"/>
            </a:avLst>
          </a:prstGeom>
          <a:solidFill>
            <a:srgbClr val="FFF0D7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659368" y="5175504"/>
            <a:ext cx="64008" cy="859536"/>
          </a:xfrm>
          <a:prstGeom prst="rect">
            <a:avLst/>
          </a:prstGeom>
          <a:solidFill>
            <a:srgbClr val="A86916"/>
          </a:solidFill>
          <a:ln w="12700">
            <a:solidFill>
              <a:srgbClr val="A8691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860536" y="532180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재검증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860536" y="5687568"/>
            <a:ext cx="243230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Run ID와 SHA-256으로 결과 추적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6C7C7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· SAFETY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모호하거나 충돌하면 그럴듯하게 확정하지 않습니다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57784" y="12344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보일러 연소와 구매전력을 한 질문에 섞으면 두 활동을 분리하도록 REVIEW합니다.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85216" y="1719072"/>
            <a:ext cx="7479792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pic>
        <p:nvPicPr>
          <p:cNvPr id="6" name="Image 0" descr="embedded 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1783080"/>
            <a:ext cx="7351776" cy="43525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21040" y="1773936"/>
            <a:ext cx="3127248" cy="1042416"/>
          </a:xfrm>
          <a:prstGeom prst="roundRect">
            <a:avLst>
              <a:gd name="adj" fmla="val 7018"/>
            </a:avLst>
          </a:prstGeom>
          <a:solidFill>
            <a:srgbClr val="EEF8F4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321040" y="1773936"/>
            <a:ext cx="64008" cy="1042416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22208" y="192024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PROCEED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522208" y="2286000"/>
            <a:ext cx="2779776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필요한 입력과 근거가 충분하고 충돌이 없을 때 실행 결과 제시</a:t>
            </a:r>
            <a:endParaRPr lang="en-US" sz="1020" dirty="0"/>
          </a:p>
        </p:txBody>
      </p:sp>
      <p:sp>
        <p:nvSpPr>
          <p:cNvPr id="11" name="Shape 8"/>
          <p:cNvSpPr/>
          <p:nvPr/>
        </p:nvSpPr>
        <p:spPr>
          <a:xfrm>
            <a:off x="8321040" y="3054096"/>
            <a:ext cx="3127248" cy="1042416"/>
          </a:xfrm>
          <a:prstGeom prst="roundRect">
            <a:avLst>
              <a:gd name="adj" fmla="val 7018"/>
            </a:avLst>
          </a:prstGeom>
          <a:solidFill>
            <a:srgbClr val="FFF0D7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321040" y="3054096"/>
            <a:ext cx="64008" cy="1042416"/>
          </a:xfrm>
          <a:prstGeom prst="rect">
            <a:avLst/>
          </a:prstGeom>
          <a:solidFill>
            <a:srgbClr val="A86916"/>
          </a:solidFill>
          <a:ln w="12700">
            <a:solidFill>
              <a:srgbClr val="A8691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22208" y="320040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REVIEW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522208" y="3566160"/>
            <a:ext cx="2779776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누락·상충·공시 판단처럼 사람 확인이 필요한 경우 보완 질문</a:t>
            </a:r>
            <a:endParaRPr lang="en-US" sz="1020" dirty="0"/>
          </a:p>
        </p:txBody>
      </p:sp>
      <p:sp>
        <p:nvSpPr>
          <p:cNvPr id="15" name="Shape 12"/>
          <p:cNvSpPr/>
          <p:nvPr/>
        </p:nvSpPr>
        <p:spPr>
          <a:xfrm>
            <a:off x="8321040" y="4334256"/>
            <a:ext cx="3127248" cy="1042416"/>
          </a:xfrm>
          <a:prstGeom prst="roundRect">
            <a:avLst>
              <a:gd name="adj" fmla="val 7018"/>
            </a:avLst>
          </a:prstGeom>
          <a:solidFill>
            <a:srgbClr val="FDE6E2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21040" y="4334256"/>
            <a:ext cx="64008" cy="1042416"/>
          </a:xfrm>
          <a:prstGeom prst="rect">
            <a:avLst/>
          </a:prstGeom>
          <a:solidFill>
            <a:srgbClr val="C94F49"/>
          </a:solidFill>
          <a:ln w="12700">
            <a:solidFill>
              <a:srgbClr val="C94F4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22208" y="448056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STOP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522208" y="4846320"/>
            <a:ext cx="2779776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실시간 시세·투자추천·무근거 계산·우회·가짜 증거·외부 실행 차단</a:t>
            </a:r>
            <a:endParaRPr lang="en-US" sz="1020" dirty="0"/>
          </a:p>
        </p:txBody>
      </p:sp>
      <p:sp>
        <p:nvSpPr>
          <p:cNvPr id="19" name="Shape 16"/>
          <p:cNvSpPr/>
          <p:nvPr/>
        </p:nvSpPr>
        <p:spPr>
          <a:xfrm>
            <a:off x="8375904" y="5724144"/>
            <a:ext cx="2999232" cy="320040"/>
          </a:xfrm>
          <a:prstGeom prst="roundRect">
            <a:avLst>
              <a:gd name="adj" fmla="val 22857"/>
            </a:avLst>
          </a:prstGeom>
          <a:solidFill>
            <a:srgbClr val="E6F0FA"/>
          </a:solidFill>
          <a:ln w="12700">
            <a:solidFill>
              <a:srgbClr val="E6F0F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75904" y="5733288"/>
            <a:ext cx="2999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628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REVIEW/STOP에서는 로컬 AI 자유 생성 차단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6C7C7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1972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· ACTION &amp; VALIDATION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구매처를 직접 물은 경우에만 실제 행동 지점을 보여줍니다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57784" y="12344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산림탄소마켓은 제품의 종착점이 아니라, 명시적 구매 의도에서만 나타나는 제한된 handoff입니다.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85216" y="1719072"/>
            <a:ext cx="6656832" cy="4498848"/>
          </a:xfrm>
          <a:prstGeom prst="roundRect">
            <a:avLst>
              <a:gd name="adj" fmla="val 1220"/>
            </a:avLst>
          </a:prstGeom>
          <a:solidFill>
            <a:srgbClr val="FFFFFF"/>
          </a:solidFill>
          <a:ln w="10160">
            <a:solidFill>
              <a:srgbClr val="BED7CF"/>
            </a:solidFill>
            <a:prstDash val="solid"/>
          </a:ln>
        </p:spPr>
      </p:sp>
      <p:pic>
        <p:nvPicPr>
          <p:cNvPr id="6" name="Image 0" descr="embedded 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1783080"/>
            <a:ext cx="6528816" cy="43708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516368" y="1755648"/>
            <a:ext cx="1920240" cy="1024128"/>
          </a:xfrm>
          <a:prstGeom prst="roundRect">
            <a:avLst>
              <a:gd name="adj" fmla="val 7143"/>
            </a:avLst>
          </a:prstGeom>
          <a:solidFill>
            <a:srgbClr val="E6F0FA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516368" y="1755648"/>
            <a:ext cx="64008" cy="1024128"/>
          </a:xfrm>
          <a:prstGeom prst="rect">
            <a:avLst/>
          </a:prstGeom>
          <a:solidFill>
            <a:srgbClr val="2D628D"/>
          </a:solidFill>
          <a:ln w="12700">
            <a:solidFill>
              <a:srgbClr val="2D628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17536" y="1901952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17536" y="2267712"/>
            <a:ext cx="15727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단위·통합 테스트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PASS</a:t>
            </a:r>
            <a:endParaRPr lang="en-US" sz="1020" dirty="0"/>
          </a:p>
        </p:txBody>
      </p:sp>
      <p:sp>
        <p:nvSpPr>
          <p:cNvPr id="11" name="Shape 8"/>
          <p:cNvSpPr/>
          <p:nvPr/>
        </p:nvSpPr>
        <p:spPr>
          <a:xfrm>
            <a:off x="9637776" y="1755648"/>
            <a:ext cx="1920240" cy="1024128"/>
          </a:xfrm>
          <a:prstGeom prst="roundRect">
            <a:avLst>
              <a:gd name="adj" fmla="val 7143"/>
            </a:avLst>
          </a:prstGeom>
          <a:solidFill>
            <a:srgbClr val="EEF8F4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37776" y="1755648"/>
            <a:ext cx="64008" cy="1024128"/>
          </a:xfrm>
          <a:prstGeom prst="rect">
            <a:avLst/>
          </a:prstGeom>
          <a:solidFill>
            <a:srgbClr val="197260"/>
          </a:solidFill>
          <a:ln w="12700">
            <a:solidFill>
              <a:srgbClr val="19726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838944" y="1901952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838944" y="2267712"/>
            <a:ext cx="15727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결정론 시나리오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PASS</a:t>
            </a:r>
            <a:endParaRPr lang="en-US" sz="1020" dirty="0"/>
          </a:p>
        </p:txBody>
      </p:sp>
      <p:sp>
        <p:nvSpPr>
          <p:cNvPr id="15" name="Shape 12"/>
          <p:cNvSpPr/>
          <p:nvPr/>
        </p:nvSpPr>
        <p:spPr>
          <a:xfrm>
            <a:off x="7516368" y="2999232"/>
            <a:ext cx="1920240" cy="1024128"/>
          </a:xfrm>
          <a:prstGeom prst="roundRect">
            <a:avLst>
              <a:gd name="adj" fmla="val 7143"/>
            </a:avLst>
          </a:prstGeom>
          <a:solidFill>
            <a:srgbClr val="FFF0D7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16368" y="2999232"/>
            <a:ext cx="64008" cy="1024128"/>
          </a:xfrm>
          <a:prstGeom prst="rect">
            <a:avLst/>
          </a:prstGeom>
          <a:solidFill>
            <a:srgbClr val="A86916"/>
          </a:solidFill>
          <a:ln w="12700">
            <a:solidFill>
              <a:srgbClr val="A8691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17536" y="3145536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717536" y="3511296"/>
            <a:ext cx="15727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로컬 AI 근거 답변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PASS</a:t>
            </a:r>
            <a:endParaRPr lang="en-US" sz="1020" dirty="0"/>
          </a:p>
        </p:txBody>
      </p:sp>
      <p:sp>
        <p:nvSpPr>
          <p:cNvPr id="19" name="Shape 16"/>
          <p:cNvSpPr/>
          <p:nvPr/>
        </p:nvSpPr>
        <p:spPr>
          <a:xfrm>
            <a:off x="9637776" y="2999232"/>
            <a:ext cx="1920240" cy="1024128"/>
          </a:xfrm>
          <a:prstGeom prst="roundRect">
            <a:avLst>
              <a:gd name="adj" fmla="val 7143"/>
            </a:avLst>
          </a:prstGeom>
          <a:solidFill>
            <a:srgbClr val="FDE6E2"/>
          </a:solidFill>
          <a:ln w="10160">
            <a:solidFill>
              <a:srgbClr val="BED7C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637776" y="2999232"/>
            <a:ext cx="64008" cy="1024128"/>
          </a:xfrm>
          <a:prstGeom prst="rect">
            <a:avLst/>
          </a:prstGeom>
          <a:solidFill>
            <a:srgbClr val="C94F49"/>
          </a:solidFill>
          <a:ln w="12700">
            <a:solidFill>
              <a:srgbClr val="C94F4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838944" y="3145536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9838944" y="3511296"/>
            <a:ext cx="1572768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지원 라우트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커버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7516368" y="4315968"/>
            <a:ext cx="4041648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BED7C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754112" y="44988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9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검증된 범위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7754112" y="4846320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PROCEED · REVIEW · STOP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53645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바이트 보존 · KAC · Output Gate · 마켓 링크 1건</a:t>
            </a:r>
            <a:endParaRPr lang="en-US" sz="1020" dirty="0"/>
          </a:p>
        </p:txBody>
      </p:sp>
      <p:sp>
        <p:nvSpPr>
          <p:cNvPr id="26" name="Shape 23"/>
          <p:cNvSpPr/>
          <p:nvPr/>
        </p:nvSpPr>
        <p:spPr>
          <a:xfrm>
            <a:off x="7699248" y="5779008"/>
            <a:ext cx="3675888" cy="320040"/>
          </a:xfrm>
          <a:prstGeom prst="roundRect">
            <a:avLst>
              <a:gd name="adj" fmla="val 22857"/>
            </a:avLst>
          </a:prstGeom>
          <a:solidFill>
            <a:srgbClr val="FFF0D7"/>
          </a:solidFill>
          <a:ln w="12700">
            <a:solidFill>
              <a:srgbClr val="FFF0D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99248" y="5788152"/>
            <a:ext cx="36758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8691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안내와 준비는 AI · 최종 거래 판단은 사람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6C7C7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4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7315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83E1B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수페스타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713232" y="1481328"/>
            <a:ext cx="694944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설명하는 AI를 넘어,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검증된 지식과 Skill이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실제로 실행되는 ESG AI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4187952"/>
            <a:ext cx="6263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5EEE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사용자에게는 자연스러운 답변을,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5EEE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뒷단에는 KAC · 실행 Skill · 근거 · Run Record를.</a:t>
            </a:r>
            <a:endParaRPr lang="en-US" sz="1500" dirty="0"/>
          </a:p>
        </p:txBody>
      </p:sp>
      <p:pic>
        <p:nvPicPr>
          <p:cNvPr id="5" name="Image 0" descr="embedded 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280160"/>
            <a:ext cx="2971800" cy="2971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99248" y="4645152"/>
            <a:ext cx="3438144" cy="320040"/>
          </a:xfrm>
          <a:prstGeom prst="roundRect">
            <a:avLst>
              <a:gd name="adj" fmla="val 22857"/>
            </a:avLst>
          </a:prstGeom>
          <a:solidFill>
            <a:srgbClr val="1B6756"/>
          </a:solidFill>
          <a:ln w="12700">
            <a:solidFill>
              <a:srgbClr val="1B675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99248" y="4654296"/>
            <a:ext cx="34381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FFF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구조화 → Skill 묶음 → 배포 → 실행 증명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229600" y="56509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AD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 초 ROK · 박상훈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50">
                <a:solidFill>
                  <a:srgbClr val="6C7C7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초 ROK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수페스타 — KAC 지식과 실행 Skill 기반 로컬 ESG AI</dc:title>
  <dc:subject>2026 ESG × AI 챌린지 해커톤 수페스타 발표자료</dc:subject>
  <dc:creator>초 ROK · 박상훈</dc:creator>
  <cp:lastModifiedBy>초 ROK · 박상훈</cp:lastModifiedBy>
  <cp:revision>1</cp:revision>
  <dcterms:created xsi:type="dcterms:W3CDTF">2026-08-25T04:33:01Z</dcterms:created>
  <dcterms:modified xsi:type="dcterms:W3CDTF">2026-08-25T04:33:01Z</dcterms:modified>
</cp:coreProperties>
</file>